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75" r:id="rId4"/>
    <p:sldId id="276" r:id="rId5"/>
    <p:sldId id="260" r:id="rId6"/>
    <p:sldId id="261" r:id="rId7"/>
    <p:sldId id="262" r:id="rId8"/>
    <p:sldId id="263" r:id="rId9"/>
    <p:sldId id="264" r:id="rId10"/>
    <p:sldId id="272" r:id="rId11"/>
    <p:sldId id="277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/QoZd4k5oZM3f6y0KuYCnsHiE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24957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02" name="Google Shape;20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2" name="Google Shape;3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" name="Google Shape;21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1bbecd7d34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1bbecd7d34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0" name="Google Shape;2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9" name="Google Shape;2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4" name="Google Shape;3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1" name="Google Shape;3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UY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UY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UY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UY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UY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UY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UY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UY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UY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UY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UY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UY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://humbertojimenez.blogspo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114425" y="0"/>
            <a:ext cx="9963150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39700" sx="102000" sy="102000" algn="ctr" rotWithShape="0">
              <a:srgbClr val="D8D8D8">
                <a:alpha val="3607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121664" y="0"/>
            <a:ext cx="9948672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00"/>
              <a:buFont typeface="Calibri"/>
              <a:buNone/>
            </a:pPr>
            <a:r>
              <a:rPr lang="es-UY" sz="6100"/>
              <a:t>Bienvenidos!</a:t>
            </a:r>
            <a:br>
              <a:rPr lang="es-UY" sz="6100"/>
            </a:br>
            <a:br>
              <a:rPr lang="es-UY" sz="6100"/>
            </a:br>
            <a:r>
              <a:rPr lang="es-UY" sz="6100"/>
              <a:t>Taller de Ingeniería genética 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9B7D37CE-7E65-BD20-FAB4-78F010833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0"/>
            <a:ext cx="10515600" cy="2614235"/>
          </a:xfrm>
        </p:spPr>
        <p:txBody>
          <a:bodyPr>
            <a:normAutofit/>
          </a:bodyPr>
          <a:lstStyle/>
          <a:p>
            <a:pPr algn="ctr"/>
            <a:r>
              <a:rPr lang="es-ES" sz="5200" dirty="0"/>
              <a:t>Docentes</a:t>
            </a:r>
            <a:endParaRPr lang="es-UY" sz="5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567E15-E4A6-0D14-C4FC-E43611A5F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713" r="5652" b="-1"/>
          <a:stretch>
            <a:fillRect/>
          </a:stretch>
        </p:blipFill>
        <p:spPr>
          <a:xfrm>
            <a:off x="184558" y="2565340"/>
            <a:ext cx="2255462" cy="3155238"/>
          </a:xfrm>
          <a:prstGeom prst="rect">
            <a:avLst/>
          </a:prstGeom>
        </p:spPr>
      </p:pic>
      <p:pic>
        <p:nvPicPr>
          <p:cNvPr id="3" name="Imagen 2" descr="H2S as a hub for stress signaling in Caenorhabditis elegans ...">
            <a:extLst>
              <a:ext uri="{FF2B5EF4-FFF2-40B4-BE49-F238E27FC236}">
                <a16:creationId xmlns:a16="http://schemas.microsoft.com/office/drawing/2014/main" id="{696D7E07-93F0-2382-D9AA-3888BC7B15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1212" r="10664" b="-1"/>
          <a:stretch>
            <a:fillRect/>
          </a:stretch>
        </p:blipFill>
        <p:spPr>
          <a:xfrm>
            <a:off x="2575696" y="2565340"/>
            <a:ext cx="2255462" cy="3155238"/>
          </a:xfrm>
          <a:prstGeom prst="rect">
            <a:avLst/>
          </a:prstGeom>
        </p:spPr>
      </p:pic>
      <p:pic>
        <p:nvPicPr>
          <p:cNvPr id="9" name="Google Shape;95;p2" descr="Mujer sentada en una oficina&#10;&#10;Descripción generada automáticamente con confianza media">
            <a:extLst>
              <a:ext uri="{FF2B5EF4-FFF2-40B4-BE49-F238E27FC236}">
                <a16:creationId xmlns:a16="http://schemas.microsoft.com/office/drawing/2014/main" id="{E09FB9DD-5276-E291-AAC9-5352EC641B20}"/>
              </a:ext>
            </a:extLst>
          </p:cNvPr>
          <p:cNvPicPr preferRelativeResize="0"/>
          <p:nvPr/>
        </p:nvPicPr>
        <p:blipFill rotWithShape="1">
          <a:blip r:embed="rId6"/>
          <a:srcRect l="27721" r="27718" b="27272"/>
          <a:stretch>
            <a:fillRect/>
          </a:stretch>
        </p:blipFill>
        <p:spPr>
          <a:xfrm>
            <a:off x="4966833" y="2565340"/>
            <a:ext cx="2255462" cy="3155238"/>
          </a:xfrm>
          <a:prstGeom prst="rect">
            <a:avLst/>
          </a:prstGeom>
          <a:noFill/>
        </p:spPr>
      </p:pic>
      <p:pic>
        <p:nvPicPr>
          <p:cNvPr id="7" name="Google Shape;93;p2">
            <a:extLst>
              <a:ext uri="{FF2B5EF4-FFF2-40B4-BE49-F238E27FC236}">
                <a16:creationId xmlns:a16="http://schemas.microsoft.com/office/drawing/2014/main" id="{E950D816-829D-9369-D6EC-28B97412B291}"/>
              </a:ext>
            </a:extLst>
          </p:cNvPr>
          <p:cNvPicPr preferRelativeResize="0"/>
          <p:nvPr/>
        </p:nvPicPr>
        <p:blipFill rotWithShape="1">
          <a:blip r:embed="rId7"/>
          <a:srcRect l="16896" r="9690" b="2"/>
          <a:stretch>
            <a:fillRect/>
          </a:stretch>
        </p:blipFill>
        <p:spPr>
          <a:xfrm>
            <a:off x="7357971" y="2565340"/>
            <a:ext cx="2255462" cy="3155238"/>
          </a:xfrm>
          <a:prstGeom prst="rect">
            <a:avLst/>
          </a:prstGeom>
          <a:noFill/>
        </p:spPr>
      </p:pic>
      <p:pic>
        <p:nvPicPr>
          <p:cNvPr id="11" name="Google Shape;97;p2" descr="Mujer de cabello largo sonriendo&#10;&#10;Descripción generada automáticamente">
            <a:extLst>
              <a:ext uri="{FF2B5EF4-FFF2-40B4-BE49-F238E27FC236}">
                <a16:creationId xmlns:a16="http://schemas.microsoft.com/office/drawing/2014/main" id="{F1386008-0934-99B9-6157-A8F76224D0B5}"/>
              </a:ext>
            </a:extLst>
          </p:cNvPr>
          <p:cNvPicPr preferRelativeResize="0"/>
          <p:nvPr/>
        </p:nvPicPr>
        <p:blipFill rotWithShape="1">
          <a:blip r:embed="rId8"/>
          <a:srcRect l="11674" r="10272" b="-6"/>
          <a:stretch>
            <a:fillRect/>
          </a:stretch>
        </p:blipFill>
        <p:spPr>
          <a:xfrm>
            <a:off x="9749109" y="2565340"/>
            <a:ext cx="2255462" cy="3155238"/>
          </a:xfrm>
          <a:prstGeom prst="rect">
            <a:avLst/>
          </a:prstGeom>
          <a:noFill/>
        </p:spPr>
      </p:pic>
      <p:sp>
        <p:nvSpPr>
          <p:cNvPr id="14" name="Google Shape;94;p2">
            <a:extLst>
              <a:ext uri="{FF2B5EF4-FFF2-40B4-BE49-F238E27FC236}">
                <a16:creationId xmlns:a16="http://schemas.microsoft.com/office/drawing/2014/main" id="{78B10885-3F4E-21D0-1FCA-BE3A2408BCC1}"/>
              </a:ext>
            </a:extLst>
          </p:cNvPr>
          <p:cNvSpPr txBox="1"/>
          <p:nvPr/>
        </p:nvSpPr>
        <p:spPr>
          <a:xfrm>
            <a:off x="7357971" y="5720578"/>
            <a:ext cx="2255463" cy="625475"/>
          </a:xfrm>
          <a:prstGeom prst="rect">
            <a:avLst/>
          </a:prstGeom>
          <a:solidFill>
            <a:srgbClr val="000000">
              <a:alpha val="4823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UY" sz="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 Paula Mulet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UY" sz="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Dra. en Ciencias Médicas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96;p2">
            <a:extLst>
              <a:ext uri="{FF2B5EF4-FFF2-40B4-BE49-F238E27FC236}">
                <a16:creationId xmlns:a16="http://schemas.microsoft.com/office/drawing/2014/main" id="{83F0FBD6-1F60-9927-6904-9305D680AD26}"/>
              </a:ext>
            </a:extLst>
          </p:cNvPr>
          <p:cNvSpPr txBox="1"/>
          <p:nvPr/>
        </p:nvSpPr>
        <p:spPr>
          <a:xfrm>
            <a:off x="4966831" y="5720576"/>
            <a:ext cx="2255464" cy="625475"/>
          </a:xfrm>
          <a:prstGeom prst="rect">
            <a:avLst/>
          </a:prstGeom>
          <a:solidFill>
            <a:srgbClr val="000000">
              <a:alpha val="4823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UY" sz="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Pía </a:t>
            </a:r>
            <a:r>
              <a:rPr lang="es-UY" sz="8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Campot</a:t>
            </a:r>
            <a:endParaRPr sz="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UY" sz="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MBA - Ing. en Biotecnología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96;p2">
            <a:extLst>
              <a:ext uri="{FF2B5EF4-FFF2-40B4-BE49-F238E27FC236}">
                <a16:creationId xmlns:a16="http://schemas.microsoft.com/office/drawing/2014/main" id="{B2AEE075-B1B2-AC55-F55A-DB4BBDD0F157}"/>
              </a:ext>
            </a:extLst>
          </p:cNvPr>
          <p:cNvSpPr txBox="1"/>
          <p:nvPr/>
        </p:nvSpPr>
        <p:spPr>
          <a:xfrm>
            <a:off x="184555" y="5720575"/>
            <a:ext cx="2255464" cy="625475"/>
          </a:xfrm>
          <a:prstGeom prst="rect">
            <a:avLst/>
          </a:prstGeom>
          <a:solidFill>
            <a:srgbClr val="000000">
              <a:alpha val="4823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ES" sz="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Magdalena Ripoll</a:t>
            </a:r>
            <a:endParaRPr sz="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UY" sz="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</a:t>
            </a:r>
            <a:r>
              <a:rPr lang="es-UY" sz="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en Química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94;p2">
            <a:extLst>
              <a:ext uri="{FF2B5EF4-FFF2-40B4-BE49-F238E27FC236}">
                <a16:creationId xmlns:a16="http://schemas.microsoft.com/office/drawing/2014/main" id="{EC68C3E2-6704-8FFB-3620-4647889CD60A}"/>
              </a:ext>
            </a:extLst>
          </p:cNvPr>
          <p:cNvSpPr txBox="1"/>
          <p:nvPr/>
        </p:nvSpPr>
        <p:spPr>
          <a:xfrm>
            <a:off x="9749108" y="5720574"/>
            <a:ext cx="2255463" cy="625475"/>
          </a:xfrm>
          <a:prstGeom prst="rect">
            <a:avLst/>
          </a:prstGeom>
          <a:solidFill>
            <a:srgbClr val="000000">
              <a:alpha val="4823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ES" sz="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Florencia Díaz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UY" sz="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Dra. en Ciencias </a:t>
            </a:r>
            <a:r>
              <a:rPr lang="es-UY" sz="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Biológicas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94;p2">
            <a:extLst>
              <a:ext uri="{FF2B5EF4-FFF2-40B4-BE49-F238E27FC236}">
                <a16:creationId xmlns:a16="http://schemas.microsoft.com/office/drawing/2014/main" id="{C36709C5-19CB-E1FB-F27C-33C6ACBB5177}"/>
              </a:ext>
            </a:extLst>
          </p:cNvPr>
          <p:cNvSpPr txBox="1"/>
          <p:nvPr/>
        </p:nvSpPr>
        <p:spPr>
          <a:xfrm>
            <a:off x="2575695" y="5720574"/>
            <a:ext cx="2255463" cy="625475"/>
          </a:xfrm>
          <a:prstGeom prst="rect">
            <a:avLst/>
          </a:prstGeom>
          <a:solidFill>
            <a:srgbClr val="000000">
              <a:alpha val="4823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ES" sz="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Laura Romanelli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UY" sz="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Dra. en Ciencias Biológicas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262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6FFB783-0264-42E4-8EC6-A77D5640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600" dirty="0">
                <a:solidFill>
                  <a:schemeClr val="tx2">
                    <a:lumMod val="25000"/>
                  </a:schemeClr>
                </a:solidFill>
              </a:rPr>
              <a:t>¿Qué es la ingeniería genética?</a:t>
            </a:r>
            <a:endParaRPr lang="es-UY" sz="36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D49748-8A11-E56A-4550-6BE3E9D95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114300" indent="0">
              <a:buNone/>
            </a:pPr>
            <a:r>
              <a:rPr lang="es-UY" sz="1800" dirty="0">
                <a:solidFill>
                  <a:schemeClr val="tx2">
                    <a:lumMod val="25000"/>
                  </a:schemeClr>
                </a:solidFill>
              </a:rPr>
              <a:t>La ingeniería genética es el uso de tecnologías de laboratorio para modificar el ADN de un organismo, ya sea cambiando una base, eliminando una región o incorporando una nueva secuencia.</a:t>
            </a:r>
          </a:p>
          <a:p>
            <a:pPr marL="114300" indent="0">
              <a:buNone/>
            </a:pPr>
            <a:r>
              <a:rPr lang="es-UY" sz="1800" i="1" dirty="0" err="1">
                <a:solidFill>
                  <a:schemeClr val="tx2">
                    <a:lumMod val="25000"/>
                  </a:schemeClr>
                </a:solidFill>
              </a:rPr>
              <a:t>National</a:t>
            </a:r>
            <a:r>
              <a:rPr lang="es-UY" sz="1800" i="1" dirty="0">
                <a:solidFill>
                  <a:schemeClr val="tx2">
                    <a:lumMod val="25000"/>
                  </a:schemeClr>
                </a:solidFill>
              </a:rPr>
              <a:t> Human </a:t>
            </a:r>
            <a:r>
              <a:rPr lang="es-UY" sz="1800" i="1" dirty="0" err="1">
                <a:solidFill>
                  <a:schemeClr val="tx2">
                    <a:lumMod val="25000"/>
                  </a:schemeClr>
                </a:solidFill>
              </a:rPr>
              <a:t>Genome</a:t>
            </a:r>
            <a:r>
              <a:rPr lang="es-UY" sz="1800" i="1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s-UY" sz="1800" i="1" dirty="0" err="1">
                <a:solidFill>
                  <a:schemeClr val="tx2">
                    <a:lumMod val="25000"/>
                  </a:schemeClr>
                </a:solidFill>
              </a:rPr>
              <a:t>Research</a:t>
            </a:r>
            <a:r>
              <a:rPr lang="es-UY" sz="1800" i="1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s-UY" sz="1800" i="1" dirty="0" err="1">
                <a:solidFill>
                  <a:schemeClr val="tx2">
                    <a:lumMod val="25000"/>
                  </a:schemeClr>
                </a:solidFill>
              </a:rPr>
              <a:t>Institute</a:t>
            </a:r>
            <a:endParaRPr lang="es-UY" sz="1800" i="1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322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8318086-358B-3F6E-250F-898B594643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38AA815-7E48-061A-385B-B4C43B745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2752354" cy="2709275"/>
          </a:xfrm>
          <a:prstGeom prst="ellipse">
            <a:avLst/>
          </a:prstGeom>
          <a:solidFill>
            <a:srgbClr val="FFFFFF"/>
          </a:solidFill>
          <a:ln w="174625" cmpd="thinThick">
            <a:solidFill>
              <a:srgbClr val="FFFFFF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200" kern="120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Herramientas de la Ingeniería genética</a:t>
            </a:r>
          </a:p>
        </p:txBody>
      </p:sp>
    </p:spTree>
    <p:extLst>
      <p:ext uri="{BB962C8B-B14F-4D97-AF65-F5344CB8AC3E}">
        <p14:creationId xmlns:p14="http://schemas.microsoft.com/office/powerpoint/2010/main" val="29614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UY"/>
              <a:t>Uso de CRISPR en experimentos</a:t>
            </a:r>
            <a:endParaRPr/>
          </a:p>
        </p:txBody>
      </p:sp>
      <p:grpSp>
        <p:nvGrpSpPr>
          <p:cNvPr id="130" name="Google Shape;130;p25"/>
          <p:cNvGrpSpPr/>
          <p:nvPr/>
        </p:nvGrpSpPr>
        <p:grpSpPr>
          <a:xfrm>
            <a:off x="424527" y="1484026"/>
            <a:ext cx="10924466" cy="2900596"/>
            <a:chOff x="4805" y="0"/>
            <a:chExt cx="10924466" cy="2900596"/>
          </a:xfrm>
        </p:grpSpPr>
        <p:sp>
          <p:nvSpPr>
            <p:cNvPr id="131" name="Google Shape;131;p25"/>
            <p:cNvSpPr/>
            <p:nvPr/>
          </p:nvSpPr>
          <p:spPr>
            <a:xfrm>
              <a:off x="820055" y="0"/>
              <a:ext cx="9293965" cy="29005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5"/>
            <p:cNvSpPr/>
            <p:nvPr/>
          </p:nvSpPr>
          <p:spPr>
            <a:xfrm>
              <a:off x="4805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3A66B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5"/>
            <p:cNvSpPr txBox="1"/>
            <p:nvPr/>
          </p:nvSpPr>
          <p:spPr>
            <a:xfrm>
              <a:off x="61443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Desarrollo de pregunta biológica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5"/>
            <p:cNvSpPr/>
            <p:nvPr/>
          </p:nvSpPr>
          <p:spPr>
            <a:xfrm>
              <a:off x="2210706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4C74C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5"/>
            <p:cNvSpPr txBox="1"/>
            <p:nvPr/>
          </p:nvSpPr>
          <p:spPr>
            <a:xfrm>
              <a:off x="2267344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Elegir la manipulación deseada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es-UY"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KO, KI, Activación, Represión, mut condicional, etc.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5"/>
            <p:cNvSpPr/>
            <p:nvPr/>
          </p:nvSpPr>
          <p:spPr>
            <a:xfrm>
              <a:off x="4416608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6786C7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5"/>
            <p:cNvSpPr txBox="1"/>
            <p:nvPr/>
          </p:nvSpPr>
          <p:spPr>
            <a:xfrm>
              <a:off x="4473246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Edición simple o genome-wide?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Que Cas usar?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es-UY"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Cas9, dCas9, nickasa, etc</a:t>
              </a: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5"/>
            <p:cNvSpPr/>
            <p:nvPr/>
          </p:nvSpPr>
          <p:spPr>
            <a:xfrm>
              <a:off x="6622510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8298CF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5"/>
            <p:cNvSpPr txBox="1"/>
            <p:nvPr/>
          </p:nvSpPr>
          <p:spPr>
            <a:xfrm>
              <a:off x="6679148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Seleccionar el sistema de expresión y delivery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es-UY"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Transciente, viral, DNA, RNA, RNP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5"/>
            <p:cNvSpPr/>
            <p:nvPr/>
          </p:nvSpPr>
          <p:spPr>
            <a:xfrm>
              <a:off x="8828412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9BABD7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5"/>
            <p:cNvSpPr txBox="1"/>
            <p:nvPr/>
          </p:nvSpPr>
          <p:spPr>
            <a:xfrm>
              <a:off x="8885050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Diseñar guías y moldes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25"/>
          <p:cNvGrpSpPr/>
          <p:nvPr/>
        </p:nvGrpSpPr>
        <p:grpSpPr>
          <a:xfrm>
            <a:off x="1692833" y="4032352"/>
            <a:ext cx="7577137" cy="2465743"/>
            <a:chOff x="275431" y="0"/>
            <a:chExt cx="7577137" cy="2465743"/>
          </a:xfrm>
        </p:grpSpPr>
        <p:sp>
          <p:nvSpPr>
            <p:cNvPr id="143" name="Google Shape;143;p25"/>
            <p:cNvSpPr/>
            <p:nvPr/>
          </p:nvSpPr>
          <p:spPr>
            <a:xfrm>
              <a:off x="609599" y="0"/>
              <a:ext cx="6908800" cy="246574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4E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5"/>
            <p:cNvSpPr/>
            <p:nvPr/>
          </p:nvSpPr>
          <p:spPr>
            <a:xfrm>
              <a:off x="275431" y="739722"/>
              <a:ext cx="2438400" cy="986297"/>
            </a:xfrm>
            <a:prstGeom prst="roundRect">
              <a:avLst>
                <a:gd name="adj" fmla="val 16667"/>
              </a:avLst>
            </a:prstGeom>
            <a:solidFill>
              <a:srgbClr val="659C4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5"/>
            <p:cNvSpPr txBox="1"/>
            <p:nvPr/>
          </p:nvSpPr>
          <p:spPr>
            <a:xfrm>
              <a:off x="323578" y="787869"/>
              <a:ext cx="2342106" cy="890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UY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Producir guías y moldes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5"/>
            <p:cNvSpPr/>
            <p:nvPr/>
          </p:nvSpPr>
          <p:spPr>
            <a:xfrm>
              <a:off x="2844799" y="739722"/>
              <a:ext cx="2438400" cy="986297"/>
            </a:xfrm>
            <a:prstGeom prst="roundRect">
              <a:avLst>
                <a:gd name="adj" fmla="val 16667"/>
              </a:avLst>
            </a:prstGeom>
            <a:solidFill>
              <a:srgbClr val="85B769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5"/>
            <p:cNvSpPr txBox="1"/>
            <p:nvPr/>
          </p:nvSpPr>
          <p:spPr>
            <a:xfrm>
              <a:off x="2892946" y="787869"/>
              <a:ext cx="2342106" cy="890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UY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Administrar los componentes de CRISPR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5"/>
            <p:cNvSpPr/>
            <p:nvPr/>
          </p:nvSpPr>
          <p:spPr>
            <a:xfrm>
              <a:off x="5414168" y="739722"/>
              <a:ext cx="2438400" cy="986297"/>
            </a:xfrm>
            <a:prstGeom prst="roundRect">
              <a:avLst>
                <a:gd name="adj" fmla="val 16667"/>
              </a:avLst>
            </a:prstGeom>
            <a:solidFill>
              <a:srgbClr val="ABC99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5"/>
            <p:cNvSpPr txBox="1"/>
            <p:nvPr/>
          </p:nvSpPr>
          <p:spPr>
            <a:xfrm>
              <a:off x="5462315" y="787869"/>
              <a:ext cx="2342106" cy="890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UY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Validar la edición génica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UY"/>
              <a:t>Uso de CRISPR en experimentos</a:t>
            </a:r>
            <a:endParaRPr/>
          </a:p>
        </p:txBody>
      </p:sp>
      <p:grpSp>
        <p:nvGrpSpPr>
          <p:cNvPr id="155" name="Google Shape;155;p26"/>
          <p:cNvGrpSpPr/>
          <p:nvPr/>
        </p:nvGrpSpPr>
        <p:grpSpPr>
          <a:xfrm>
            <a:off x="424527" y="1484026"/>
            <a:ext cx="10924466" cy="2900596"/>
            <a:chOff x="4805" y="0"/>
            <a:chExt cx="10924466" cy="2900596"/>
          </a:xfrm>
        </p:grpSpPr>
        <p:sp>
          <p:nvSpPr>
            <p:cNvPr id="156" name="Google Shape;156;p26"/>
            <p:cNvSpPr/>
            <p:nvPr/>
          </p:nvSpPr>
          <p:spPr>
            <a:xfrm>
              <a:off x="820055" y="0"/>
              <a:ext cx="9293965" cy="29005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4805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3A66B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6"/>
            <p:cNvSpPr txBox="1"/>
            <p:nvPr/>
          </p:nvSpPr>
          <p:spPr>
            <a:xfrm>
              <a:off x="61443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Desarrollo de pregunta biológica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2210706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4C74C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6"/>
            <p:cNvSpPr txBox="1"/>
            <p:nvPr/>
          </p:nvSpPr>
          <p:spPr>
            <a:xfrm>
              <a:off x="2267344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Elegir la manipulación deseada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es-UY"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KO, KI, Activación, Represión, mut condicional, etc.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4416608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6786C7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6"/>
            <p:cNvSpPr txBox="1"/>
            <p:nvPr/>
          </p:nvSpPr>
          <p:spPr>
            <a:xfrm>
              <a:off x="4473246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Edición simple o genome-wide?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Que Cas usar?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es-UY"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Cas9, dCas9, nickasa, etc</a:t>
              </a: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6"/>
            <p:cNvSpPr/>
            <p:nvPr/>
          </p:nvSpPr>
          <p:spPr>
            <a:xfrm>
              <a:off x="6622510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8298CF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6"/>
            <p:cNvSpPr txBox="1"/>
            <p:nvPr/>
          </p:nvSpPr>
          <p:spPr>
            <a:xfrm>
              <a:off x="6679148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Seleccionar el sistema de expresión y delivery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es-UY"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Transciente, viral, DNA, RNA, RNP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6"/>
            <p:cNvSpPr/>
            <p:nvPr/>
          </p:nvSpPr>
          <p:spPr>
            <a:xfrm>
              <a:off x="8828412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9BABD7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6"/>
            <p:cNvSpPr txBox="1"/>
            <p:nvPr/>
          </p:nvSpPr>
          <p:spPr>
            <a:xfrm>
              <a:off x="8885050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Diseñar guías y moldes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26"/>
          <p:cNvSpPr/>
          <p:nvPr/>
        </p:nvSpPr>
        <p:spPr>
          <a:xfrm>
            <a:off x="3537155" y="4925961"/>
            <a:ext cx="5117690" cy="132735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UY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Obligatorio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UY"/>
              <a:t>Uso de CRISPR en experimentos</a:t>
            </a:r>
            <a:endParaRPr/>
          </a:p>
        </p:txBody>
      </p:sp>
      <p:grpSp>
        <p:nvGrpSpPr>
          <p:cNvPr id="173" name="Google Shape;173;p27"/>
          <p:cNvGrpSpPr/>
          <p:nvPr/>
        </p:nvGrpSpPr>
        <p:grpSpPr>
          <a:xfrm>
            <a:off x="1692833" y="4032352"/>
            <a:ext cx="7577137" cy="2465743"/>
            <a:chOff x="275431" y="0"/>
            <a:chExt cx="7577137" cy="2465743"/>
          </a:xfrm>
        </p:grpSpPr>
        <p:sp>
          <p:nvSpPr>
            <p:cNvPr id="174" name="Google Shape;174;p27"/>
            <p:cNvSpPr/>
            <p:nvPr/>
          </p:nvSpPr>
          <p:spPr>
            <a:xfrm>
              <a:off x="609599" y="0"/>
              <a:ext cx="6908800" cy="246574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4E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275431" y="739722"/>
              <a:ext cx="2438400" cy="986297"/>
            </a:xfrm>
            <a:prstGeom prst="roundRect">
              <a:avLst>
                <a:gd name="adj" fmla="val 16667"/>
              </a:avLst>
            </a:prstGeom>
            <a:solidFill>
              <a:srgbClr val="659C4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7"/>
            <p:cNvSpPr txBox="1"/>
            <p:nvPr/>
          </p:nvSpPr>
          <p:spPr>
            <a:xfrm>
              <a:off x="323578" y="787869"/>
              <a:ext cx="2342106" cy="890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UY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Producir guías y moldes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2844799" y="739722"/>
              <a:ext cx="2438400" cy="986297"/>
            </a:xfrm>
            <a:prstGeom prst="roundRect">
              <a:avLst>
                <a:gd name="adj" fmla="val 16667"/>
              </a:avLst>
            </a:prstGeom>
            <a:solidFill>
              <a:srgbClr val="85B769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7"/>
            <p:cNvSpPr txBox="1"/>
            <p:nvPr/>
          </p:nvSpPr>
          <p:spPr>
            <a:xfrm>
              <a:off x="2892946" y="787869"/>
              <a:ext cx="2342106" cy="890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UY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Administrar los componentes de CRISPR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5414168" y="739722"/>
              <a:ext cx="2438400" cy="986297"/>
            </a:xfrm>
            <a:prstGeom prst="roundRect">
              <a:avLst>
                <a:gd name="adj" fmla="val 16667"/>
              </a:avLst>
            </a:prstGeom>
            <a:solidFill>
              <a:srgbClr val="ABC99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7"/>
            <p:cNvSpPr txBox="1"/>
            <p:nvPr/>
          </p:nvSpPr>
          <p:spPr>
            <a:xfrm>
              <a:off x="5462315" y="787869"/>
              <a:ext cx="2342106" cy="890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UY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Validar la edición génica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" name="Google Shape;181;p27"/>
          <p:cNvSpPr/>
          <p:nvPr/>
        </p:nvSpPr>
        <p:spPr>
          <a:xfrm>
            <a:off x="3537155" y="2197842"/>
            <a:ext cx="5117690" cy="1327356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UY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Experimentos prácticos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UY"/>
              <a:t>Uso de CRISPR en experimentos</a:t>
            </a:r>
            <a:endParaRPr/>
          </a:p>
        </p:txBody>
      </p:sp>
      <p:grpSp>
        <p:nvGrpSpPr>
          <p:cNvPr id="187" name="Google Shape;187;p28"/>
          <p:cNvGrpSpPr/>
          <p:nvPr/>
        </p:nvGrpSpPr>
        <p:grpSpPr>
          <a:xfrm>
            <a:off x="424527" y="1484026"/>
            <a:ext cx="10924466" cy="2900596"/>
            <a:chOff x="4805" y="0"/>
            <a:chExt cx="10924466" cy="2900596"/>
          </a:xfrm>
        </p:grpSpPr>
        <p:sp>
          <p:nvSpPr>
            <p:cNvPr id="188" name="Google Shape;188;p28"/>
            <p:cNvSpPr/>
            <p:nvPr/>
          </p:nvSpPr>
          <p:spPr>
            <a:xfrm>
              <a:off x="820055" y="0"/>
              <a:ext cx="9293965" cy="29005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4805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3A66B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8"/>
            <p:cNvSpPr txBox="1"/>
            <p:nvPr/>
          </p:nvSpPr>
          <p:spPr>
            <a:xfrm>
              <a:off x="61443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2210706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4C74C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8"/>
            <p:cNvSpPr txBox="1"/>
            <p:nvPr/>
          </p:nvSpPr>
          <p:spPr>
            <a:xfrm>
              <a:off x="2267344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Elegir la manipulación deseada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es-UY"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KO, KI, Activación, Represión, mut condicional, etc.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4416608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6786C7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8"/>
            <p:cNvSpPr txBox="1"/>
            <p:nvPr/>
          </p:nvSpPr>
          <p:spPr>
            <a:xfrm>
              <a:off x="4473246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Edición simple o genome-wide?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Que Cas usar?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es-UY"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Cas9, dCas9, nickasa, etc</a:t>
              </a: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6622510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8298CF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8"/>
            <p:cNvSpPr txBox="1"/>
            <p:nvPr/>
          </p:nvSpPr>
          <p:spPr>
            <a:xfrm>
              <a:off x="6679148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UY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Seleccionar el sistema de expresión y delivery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es-UY"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Transciente, viral, DNA, RNA, RNP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8828412" y="870178"/>
              <a:ext cx="2100859" cy="1160238"/>
            </a:xfrm>
            <a:prstGeom prst="roundRect">
              <a:avLst>
                <a:gd name="adj" fmla="val 16667"/>
              </a:avLst>
            </a:prstGeom>
            <a:solidFill>
              <a:srgbClr val="9BABD7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8"/>
            <p:cNvSpPr txBox="1"/>
            <p:nvPr/>
          </p:nvSpPr>
          <p:spPr>
            <a:xfrm>
              <a:off x="8885050" y="926816"/>
              <a:ext cx="1987583" cy="1046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28"/>
          <p:cNvSpPr/>
          <p:nvPr/>
        </p:nvSpPr>
        <p:spPr>
          <a:xfrm>
            <a:off x="3537155" y="4572000"/>
            <a:ext cx="5117690" cy="132735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UY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técnicas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9"/>
          <p:cNvSpPr txBox="1"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UY" sz="6000" dirty="0"/>
              <a:t>Evaluaciones</a:t>
            </a:r>
            <a:endParaRPr dirty="0"/>
          </a:p>
        </p:txBody>
      </p:sp>
      <p:sp>
        <p:nvSpPr>
          <p:cNvPr id="206" name="Google Shape;206;p29"/>
          <p:cNvSpPr/>
          <p:nvPr/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/>
          <p:nvPr/>
        </p:nvSpPr>
        <p:spPr>
          <a:xfrm rot="10800000" flipH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9"/>
          <p:cNvSpPr txBox="1">
            <a:spLocks noGrp="1"/>
          </p:cNvSpPr>
          <p:nvPr>
            <p:ph type="body" idx="1"/>
          </p:nvPr>
        </p:nvSpPr>
        <p:spPr>
          <a:xfrm>
            <a:off x="841248" y="3337269"/>
            <a:ext cx="10509504" cy="290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UY" sz="2400" dirty="0">
                <a:latin typeface="Calibri"/>
                <a:ea typeface="Calibri"/>
                <a:cs typeface="Calibri"/>
                <a:sym typeface="Calibri"/>
              </a:rPr>
              <a:t>Presentación de técnicas: 15 puntos</a:t>
            </a:r>
            <a:endParaRPr sz="3000" dirty="0"/>
          </a:p>
          <a:p>
            <a:pPr marL="22860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UY" sz="2400" dirty="0">
                <a:latin typeface="Calibri"/>
                <a:ea typeface="Calibri"/>
                <a:cs typeface="Calibri"/>
                <a:sym typeface="Calibri"/>
              </a:rPr>
              <a:t>Informe</a:t>
            </a:r>
            <a:r>
              <a:rPr lang="es-UY" sz="2400" dirty="0"/>
              <a:t> de resultados</a:t>
            </a:r>
            <a:r>
              <a:rPr lang="es-UY" sz="2400" dirty="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UY" sz="2400" dirty="0"/>
              <a:t>3</a:t>
            </a:r>
            <a:r>
              <a:rPr lang="es-UY" sz="2400" dirty="0">
                <a:latin typeface="Calibri"/>
                <a:ea typeface="Calibri"/>
                <a:cs typeface="Calibri"/>
                <a:sym typeface="Calibri"/>
              </a:rPr>
              <a:t>0 puntos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UY" sz="2400" dirty="0">
                <a:latin typeface="Calibri"/>
                <a:ea typeface="Calibri"/>
                <a:cs typeface="Calibri"/>
                <a:sym typeface="Calibri"/>
              </a:rPr>
              <a:t>Obligatorio. Trabajo escrito: 30 puntos. Presentación oral: 15 puntos</a:t>
            </a:r>
            <a:endParaRPr sz="3000" dirty="0"/>
          </a:p>
          <a:p>
            <a:pPr marL="228600" lvl="0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UY" sz="2400" dirty="0"/>
              <a:t>Actuación en clase: 10 puntos</a:t>
            </a: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"/>
          <p:cNvSpPr txBox="1"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UY" sz="6000"/>
              <a:t>Fechas importantes</a:t>
            </a:r>
            <a:endParaRPr/>
          </a:p>
        </p:txBody>
      </p:sp>
      <p:sp>
        <p:nvSpPr>
          <p:cNvPr id="316" name="Google Shape;316;p3"/>
          <p:cNvSpPr/>
          <p:nvPr/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"/>
          <p:cNvSpPr/>
          <p:nvPr/>
        </p:nvSpPr>
        <p:spPr>
          <a:xfrm rot="10800000" flipH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"/>
          <p:cNvSpPr txBox="1">
            <a:spLocks noGrp="1"/>
          </p:cNvSpPr>
          <p:nvPr>
            <p:ph type="body" idx="1"/>
          </p:nvPr>
        </p:nvSpPr>
        <p:spPr>
          <a:xfrm>
            <a:off x="841248" y="3337269"/>
            <a:ext cx="10509504" cy="290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200"/>
            </a:pPr>
            <a:r>
              <a:rPr lang="es-UY" sz="2200" dirty="0">
                <a:latin typeface="Calibri"/>
                <a:ea typeface="Calibri"/>
                <a:cs typeface="Calibri"/>
                <a:sym typeface="Calibri"/>
              </a:rPr>
              <a:t>Presentación de </a:t>
            </a:r>
            <a:r>
              <a:rPr lang="es-UY" sz="2200" dirty="0"/>
              <a:t>técnicas: martes 21/07. </a:t>
            </a:r>
          </a:p>
          <a:p>
            <a:pPr marL="228600" lvl="0" indent="-228600">
              <a:spcBef>
                <a:spcPts val="0"/>
              </a:spcBef>
              <a:buSzPts val="2200"/>
            </a:pPr>
            <a:endParaRPr lang="es-UY" sz="2200" dirty="0"/>
          </a:p>
          <a:p>
            <a:pPr marL="228600" lvl="0" indent="-228600">
              <a:spcBef>
                <a:spcPts val="0"/>
              </a:spcBef>
              <a:buSzPts val="2200"/>
            </a:pPr>
            <a:r>
              <a:rPr lang="es-UY" sz="2200" dirty="0"/>
              <a:t>Entrega de informe resultados: jueves 30/07. </a:t>
            </a:r>
          </a:p>
          <a:p>
            <a:pPr marL="228600" lvl="0" indent="-228600">
              <a:spcBef>
                <a:spcPts val="0"/>
              </a:spcBef>
              <a:buSzPts val="2200"/>
            </a:pPr>
            <a:endParaRPr lang="es-UY" sz="2200" dirty="0"/>
          </a:p>
          <a:p>
            <a:pPr marL="228600" lvl="0" indent="-228600">
              <a:spcBef>
                <a:spcPts val="0"/>
              </a:spcBef>
              <a:buSzPts val="2200"/>
            </a:pPr>
            <a:r>
              <a:rPr lang="es-UY" sz="2200" dirty="0"/>
              <a:t>Presentación del oral obligatorio: jueves 30/07. </a:t>
            </a:r>
          </a:p>
          <a:p>
            <a:pPr marL="228600" lvl="0" indent="-228600">
              <a:spcBef>
                <a:spcPts val="0"/>
              </a:spcBef>
              <a:buSzPts val="2200"/>
            </a:pPr>
            <a:endParaRPr lang="es-UY" sz="2200" dirty="0"/>
          </a:p>
          <a:p>
            <a:pPr marL="228600" lvl="0" indent="-228600">
              <a:spcBef>
                <a:spcPts val="0"/>
              </a:spcBef>
              <a:buSzPts val="2200"/>
            </a:pPr>
            <a:r>
              <a:rPr lang="es-UY" sz="2200" dirty="0"/>
              <a:t>Entrega del obligatorio: jueves 06/08. </a:t>
            </a:r>
            <a:endParaRPr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3D83592-97BF-CB42-B861-F470784A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Detalle de las evaluaciones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2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0"/>
          <p:cNvSpPr txBox="1">
            <a:spLocks noGrp="1"/>
          </p:cNvSpPr>
          <p:nvPr>
            <p:ph type="title"/>
          </p:nvPr>
        </p:nvSpPr>
        <p:spPr>
          <a:xfrm>
            <a:off x="841248" y="502920"/>
            <a:ext cx="10509504" cy="197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s-UY" dirty="0"/>
              <a:t>Presentación de técnicas basadas en CRISPR</a:t>
            </a:r>
            <a:endParaRPr dirty="0"/>
          </a:p>
        </p:txBody>
      </p:sp>
      <p:sp>
        <p:nvSpPr>
          <p:cNvPr id="215" name="Google Shape;215;p30"/>
          <p:cNvSpPr/>
          <p:nvPr/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841248" y="2894076"/>
            <a:ext cx="10506456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0"/>
          <p:cNvSpPr txBox="1">
            <a:spLocks noGrp="1"/>
          </p:cNvSpPr>
          <p:nvPr>
            <p:ph type="body" idx="1"/>
          </p:nvPr>
        </p:nvSpPr>
        <p:spPr>
          <a:xfrm>
            <a:off x="841248" y="3328416"/>
            <a:ext cx="10509504" cy="2715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32"/>
              <a:buChar char="•"/>
            </a:pPr>
            <a:r>
              <a:rPr lang="es-UY" sz="2632" dirty="0">
                <a:latin typeface="Calibri"/>
                <a:ea typeface="Calibri"/>
                <a:cs typeface="Calibri"/>
                <a:sym typeface="Calibri"/>
              </a:rPr>
              <a:t>15 puntos</a:t>
            </a:r>
            <a:endParaRPr sz="3232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32"/>
              <a:buChar char="•"/>
            </a:pPr>
            <a:r>
              <a:rPr lang="es-UY" sz="2632" dirty="0">
                <a:latin typeface="Calibri"/>
                <a:ea typeface="Calibri"/>
                <a:cs typeface="Calibri"/>
                <a:sym typeface="Calibri"/>
              </a:rPr>
              <a:t>Grupos de 3 </a:t>
            </a:r>
            <a:endParaRPr sz="3232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32"/>
              <a:buChar char="•"/>
            </a:pPr>
            <a:r>
              <a:rPr lang="es-UY" sz="2632" dirty="0">
                <a:latin typeface="Calibri"/>
                <a:ea typeface="Calibri"/>
                <a:cs typeface="Calibri"/>
                <a:sym typeface="Calibri"/>
              </a:rPr>
              <a:t>20 min de presentación</a:t>
            </a:r>
            <a:endParaRPr sz="2632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88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88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/>
          <p:nvPr/>
        </p:nvSpPr>
        <p:spPr>
          <a:xfrm>
            <a:off x="0" y="-11256"/>
            <a:ext cx="12192000" cy="6869256"/>
          </a:xfrm>
          <a:prstGeom prst="rect">
            <a:avLst/>
          </a:prstGeom>
          <a:solidFill>
            <a:srgbClr val="D8D8D8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960120" y="990600"/>
            <a:ext cx="10271700" cy="43053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C8CAC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t" rotWithShape="0">
              <a:srgbClr val="000000">
                <a:alpha val="6156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31"/>
          <p:cNvPicPr preferRelativeResize="0"/>
          <p:nvPr/>
        </p:nvPicPr>
        <p:blipFill rotWithShape="1">
          <a:blip r:embed="rId3">
            <a:alphaModFix/>
          </a:blip>
          <a:srcRect l="23951" t="23855" r="29233" b="59173"/>
          <a:stretch/>
        </p:blipFill>
        <p:spPr>
          <a:xfrm>
            <a:off x="1121929" y="2290763"/>
            <a:ext cx="4481412" cy="785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1"/>
          <p:cNvPicPr preferRelativeResize="0"/>
          <p:nvPr/>
        </p:nvPicPr>
        <p:blipFill rotWithShape="1">
          <a:blip r:embed="rId4">
            <a:alphaModFix/>
          </a:blip>
          <a:srcRect l="28277" t="51467" r="11694" b="33747"/>
          <a:stretch/>
        </p:blipFill>
        <p:spPr>
          <a:xfrm>
            <a:off x="1121929" y="3233739"/>
            <a:ext cx="4633947" cy="59862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1"/>
          <p:cNvSpPr txBox="1">
            <a:spLocks noGrp="1"/>
          </p:cNvSpPr>
          <p:nvPr>
            <p:ph type="title"/>
          </p:nvPr>
        </p:nvSpPr>
        <p:spPr>
          <a:xfrm>
            <a:off x="960120" y="5419725"/>
            <a:ext cx="10271760" cy="936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/>
            <a:r>
              <a:rPr lang="es-UY" sz="4000" dirty="0"/>
              <a:t>Presentación de técnicas basadas en CRISPR</a:t>
            </a:r>
            <a:endParaRPr dirty="0"/>
          </a:p>
        </p:txBody>
      </p:sp>
      <p:sp>
        <p:nvSpPr>
          <p:cNvPr id="228" name="Google Shape;228;p31"/>
          <p:cNvSpPr txBox="1"/>
          <p:nvPr/>
        </p:nvSpPr>
        <p:spPr>
          <a:xfrm>
            <a:off x="5802850" y="3269963"/>
            <a:ext cx="49293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UY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 drive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1"/>
          <p:cNvSpPr txBox="1"/>
          <p:nvPr/>
        </p:nvSpPr>
        <p:spPr>
          <a:xfrm>
            <a:off x="5802850" y="1490450"/>
            <a:ext cx="26985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UY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 editing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5802850" y="2347700"/>
            <a:ext cx="33900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UY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editing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5802850" y="4383675"/>
            <a:ext cx="4481412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800"/>
            </a:pPr>
            <a:r>
              <a:rPr lang="es-UY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CRISPR de ARN - antiviral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8C9F98-79F6-E8C5-117E-E62FAF1589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296" y="1138653"/>
            <a:ext cx="4300678" cy="115490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5ADA06-7BD8-5F59-8F45-E60ECECA69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4464" y="4427135"/>
            <a:ext cx="4481412" cy="4909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1bbecd7d34_1_8"/>
          <p:cNvSpPr/>
          <p:nvPr/>
        </p:nvSpPr>
        <p:spPr>
          <a:xfrm>
            <a:off x="0" y="-11256"/>
            <a:ext cx="12192000" cy="6869400"/>
          </a:xfrm>
          <a:prstGeom prst="rect">
            <a:avLst/>
          </a:prstGeom>
          <a:solidFill>
            <a:srgbClr val="D8D8D8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21bbecd7d34_1_8"/>
          <p:cNvSpPr/>
          <p:nvPr/>
        </p:nvSpPr>
        <p:spPr>
          <a:xfrm>
            <a:off x="960120" y="990600"/>
            <a:ext cx="10271700" cy="43053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C8CAC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t" rotWithShape="0">
              <a:srgbClr val="000000">
                <a:alpha val="6156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g21bbecd7d34_1_8"/>
          <p:cNvPicPr preferRelativeResize="0"/>
          <p:nvPr/>
        </p:nvPicPr>
        <p:blipFill rotWithShape="1">
          <a:blip r:embed="rId3">
            <a:alphaModFix/>
          </a:blip>
          <a:srcRect l="4635" t="26514" r="31771" b="61999"/>
          <a:stretch/>
        </p:blipFill>
        <p:spPr>
          <a:xfrm>
            <a:off x="1362475" y="1237176"/>
            <a:ext cx="5314949" cy="4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21bbecd7d34_1_8"/>
          <p:cNvPicPr preferRelativeResize="0"/>
          <p:nvPr/>
        </p:nvPicPr>
        <p:blipFill rotWithShape="1">
          <a:blip r:embed="rId4">
            <a:alphaModFix/>
          </a:blip>
          <a:srcRect l="4236" t="29451" r="53182" b="53364"/>
          <a:stretch/>
        </p:blipFill>
        <p:spPr>
          <a:xfrm>
            <a:off x="1235653" y="1914168"/>
            <a:ext cx="4860317" cy="10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21bbecd7d34_1_8"/>
          <p:cNvSpPr txBox="1">
            <a:spLocks noGrp="1"/>
          </p:cNvSpPr>
          <p:nvPr>
            <p:ph type="title"/>
          </p:nvPr>
        </p:nvSpPr>
        <p:spPr>
          <a:xfrm>
            <a:off x="960120" y="5419725"/>
            <a:ext cx="10271700" cy="9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/>
            <a:r>
              <a:rPr lang="es-UY" sz="4000" dirty="0"/>
              <a:t>Presentación de técnicas basadas en CRISPR</a:t>
            </a:r>
            <a:endParaRPr dirty="0"/>
          </a:p>
        </p:txBody>
      </p:sp>
      <p:sp>
        <p:nvSpPr>
          <p:cNvPr id="242" name="Google Shape;242;g21bbecd7d34_1_8"/>
          <p:cNvSpPr txBox="1"/>
          <p:nvPr/>
        </p:nvSpPr>
        <p:spPr>
          <a:xfrm>
            <a:off x="6898525" y="2133400"/>
            <a:ext cx="3766200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UY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SHERLOCK - detección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21bbecd7d34_1_8"/>
          <p:cNvSpPr txBox="1"/>
          <p:nvPr/>
        </p:nvSpPr>
        <p:spPr>
          <a:xfrm>
            <a:off x="6898524" y="1171450"/>
            <a:ext cx="3931001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s-UY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odificación</a:t>
            </a:r>
            <a:r>
              <a:rPr lang="es-UY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epigenética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21bbecd7d34_1_8"/>
          <p:cNvSpPr txBox="1"/>
          <p:nvPr/>
        </p:nvSpPr>
        <p:spPr>
          <a:xfrm>
            <a:off x="6898525" y="3302500"/>
            <a:ext cx="32439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UY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CRISPRi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E4D83A-4C29-7E8D-37CB-BE53D0A140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951"/>
          <a:stretch>
            <a:fillRect/>
          </a:stretch>
        </p:blipFill>
        <p:spPr>
          <a:xfrm>
            <a:off x="1362475" y="3031245"/>
            <a:ext cx="4775536" cy="13336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2"/>
          <p:cNvSpPr txBox="1"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UY" sz="4000"/>
              <a:t>Informe </a:t>
            </a:r>
            <a:endParaRPr/>
          </a:p>
        </p:txBody>
      </p:sp>
      <p:pic>
        <p:nvPicPr>
          <p:cNvPr id="254" name="Google Shape;254;p32" descr="Checkma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948" y="2694018"/>
            <a:ext cx="1198532" cy="11985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2"/>
          <p:cNvSpPr txBox="1">
            <a:spLocks noGrp="1"/>
          </p:cNvSpPr>
          <p:nvPr>
            <p:ph type="body" idx="1"/>
          </p:nvPr>
        </p:nvSpPr>
        <p:spPr>
          <a:xfrm>
            <a:off x="2187364" y="4072044"/>
            <a:ext cx="5801917" cy="205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UY" sz="2000" dirty="0"/>
              <a:t>Presentación de resultados de las actividades del laboratorio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s-UY" sz="2000" dirty="0"/>
              <a:t>10 carillas</a:t>
            </a:r>
            <a:endParaRPr sz="20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UY" sz="2000" dirty="0"/>
              <a:t>30 puntos</a:t>
            </a:r>
            <a:endParaRPr dirty="0"/>
          </a:p>
        </p:txBody>
      </p:sp>
      <p:pic>
        <p:nvPicPr>
          <p:cNvPr id="256" name="Google Shape;256;p32" descr="Checkmark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6641431" y="816337"/>
            <a:ext cx="5225327" cy="522532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2"/>
          <p:cNvSpPr/>
          <p:nvPr/>
        </p:nvSpPr>
        <p:spPr>
          <a:xfrm>
            <a:off x="643278" y="2573756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 txBox="1"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UY" sz="6000"/>
              <a:t>Obligatorio</a:t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 rot="10800000" flipH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 txBox="1">
            <a:spLocks noGrp="1"/>
          </p:cNvSpPr>
          <p:nvPr>
            <p:ph type="body" idx="1"/>
          </p:nvPr>
        </p:nvSpPr>
        <p:spPr>
          <a:xfrm>
            <a:off x="841248" y="3337269"/>
            <a:ext cx="10509504" cy="290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s-UY" sz="2200"/>
              <a:t>Diseño de una estrategia de modificación génica de complejidad media/alta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s-UY" sz="2200" b="1"/>
              <a:t>No KO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s-UY" sz="2200"/>
              <a:t>Partes: Introducción, objetivo, diseño experimental.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s-UY" sz="2200"/>
              <a:t>Énfasis en el diseño.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s-UY" sz="2200"/>
              <a:t>Debe contener: Mapas que faciliten la visualización, secuencias de primers, de guías, de plásmidos, métodos de inserción, reactivos (ej. proteína, RNP)</a:t>
            </a:r>
            <a:endParaRPr sz="2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s-UY" sz="2200"/>
              <a:t>10 carillas (sin incluir bibliografía y anexos)</a:t>
            </a:r>
            <a:endParaRPr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5C2C2">
                <a:alpha val="4823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 txBox="1"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UY" sz="3200"/>
              <a:t>Obligatorio</a:t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 txBox="1">
            <a:spLocks noGrp="1"/>
          </p:cNvSpPr>
          <p:nvPr>
            <p:ph type="body" idx="1"/>
          </p:nvPr>
        </p:nvSpPr>
        <p:spPr>
          <a:xfrm>
            <a:off x="5386221" y="1036186"/>
            <a:ext cx="5922600" cy="11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s-UY" sz="2400"/>
              <a:t>Diseño de una estrategia experimental para edición genómica de complejidad media/alta. </a:t>
            </a:r>
            <a:endParaRPr sz="3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</p:txBody>
      </p:sp>
      <p:grpSp>
        <p:nvGrpSpPr>
          <p:cNvPr id="277" name="Google Shape;277;p6"/>
          <p:cNvGrpSpPr/>
          <p:nvPr/>
        </p:nvGrpSpPr>
        <p:grpSpPr>
          <a:xfrm>
            <a:off x="974703" y="2666360"/>
            <a:ext cx="10328840" cy="3825496"/>
            <a:chOff x="283852" y="1017"/>
            <a:chExt cx="10328840" cy="3825496"/>
          </a:xfrm>
        </p:grpSpPr>
        <p:sp>
          <p:nvSpPr>
            <p:cNvPr id="278" name="Google Shape;278;p6"/>
            <p:cNvSpPr/>
            <p:nvPr/>
          </p:nvSpPr>
          <p:spPr>
            <a:xfrm>
              <a:off x="283852" y="1017"/>
              <a:ext cx="1912748" cy="1147648"/>
            </a:xfrm>
            <a:prstGeom prst="rect">
              <a:avLst/>
            </a:prstGeom>
            <a:solidFill>
              <a:srgbClr val="D66E29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6"/>
            <p:cNvSpPr txBox="1"/>
            <p:nvPr/>
          </p:nvSpPr>
          <p:spPr>
            <a:xfrm>
              <a:off x="283852" y="1017"/>
              <a:ext cx="1912748" cy="1147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UY" sz="15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KO/KI condicional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2387875" y="1017"/>
              <a:ext cx="1912748" cy="1147648"/>
            </a:xfrm>
            <a:prstGeom prst="rect">
              <a:avLst/>
            </a:prstGeom>
            <a:solidFill>
              <a:srgbClr val="D8733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6"/>
            <p:cNvSpPr txBox="1"/>
            <p:nvPr/>
          </p:nvSpPr>
          <p:spPr>
            <a:xfrm>
              <a:off x="2387875" y="1017"/>
              <a:ext cx="1912748" cy="1147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UY" sz="15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Grandes deleciones/inversiones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4491898" y="1017"/>
              <a:ext cx="1912748" cy="1147648"/>
            </a:xfrm>
            <a:prstGeom prst="rect">
              <a:avLst/>
            </a:prstGeom>
            <a:solidFill>
              <a:srgbClr val="DB783D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6"/>
            <p:cNvSpPr txBox="1"/>
            <p:nvPr/>
          </p:nvSpPr>
          <p:spPr>
            <a:xfrm>
              <a:off x="4491898" y="1017"/>
              <a:ext cx="1912748" cy="1147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UY" sz="15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KI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6595921" y="1017"/>
              <a:ext cx="1912748" cy="1147648"/>
            </a:xfrm>
            <a:prstGeom prst="rect">
              <a:avLst/>
            </a:prstGeom>
            <a:solidFill>
              <a:srgbClr val="DE7E47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6"/>
            <p:cNvSpPr txBox="1"/>
            <p:nvPr/>
          </p:nvSpPr>
          <p:spPr>
            <a:xfrm>
              <a:off x="6595921" y="1017"/>
              <a:ext cx="1912748" cy="1147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UY" sz="15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Intercambio de genes /exones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8699944" y="1017"/>
              <a:ext cx="1912748" cy="1147648"/>
            </a:xfrm>
            <a:prstGeom prst="rect">
              <a:avLst/>
            </a:prstGeom>
            <a:solidFill>
              <a:srgbClr val="E18350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6"/>
            <p:cNvSpPr txBox="1"/>
            <p:nvPr/>
          </p:nvSpPr>
          <p:spPr>
            <a:xfrm>
              <a:off x="8699944" y="1017"/>
              <a:ext cx="1912748" cy="1147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UY" sz="15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Generación de reporteros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283852" y="1339941"/>
              <a:ext cx="1912748" cy="1147648"/>
            </a:xfrm>
            <a:prstGeom prst="rect">
              <a:avLst/>
            </a:prstGeom>
            <a:solidFill>
              <a:srgbClr val="E3895A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6"/>
            <p:cNvSpPr txBox="1"/>
            <p:nvPr/>
          </p:nvSpPr>
          <p:spPr>
            <a:xfrm>
              <a:off x="283852" y="1339941"/>
              <a:ext cx="1912748" cy="1147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UY" sz="15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Inserción de marcadores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2387875" y="1339941"/>
              <a:ext cx="1912748" cy="1147648"/>
            </a:xfrm>
            <a:prstGeom prst="rect">
              <a:avLst/>
            </a:prstGeom>
            <a:solidFill>
              <a:srgbClr val="E78F64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6"/>
            <p:cNvSpPr txBox="1"/>
            <p:nvPr/>
          </p:nvSpPr>
          <p:spPr>
            <a:xfrm>
              <a:off x="2387875" y="1339941"/>
              <a:ext cx="1912748" cy="1147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UY" sz="15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Modificaciones en ARN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4491898" y="1339941"/>
              <a:ext cx="1912748" cy="1147648"/>
            </a:xfrm>
            <a:prstGeom prst="rect">
              <a:avLst/>
            </a:prstGeom>
            <a:solidFill>
              <a:srgbClr val="E9956E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6"/>
            <p:cNvSpPr txBox="1"/>
            <p:nvPr/>
          </p:nvSpPr>
          <p:spPr>
            <a:xfrm>
              <a:off x="4491898" y="1339941"/>
              <a:ext cx="1912748" cy="1147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UY" sz="15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Modificaciones epigenéticas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6"/>
            <p:cNvSpPr/>
            <p:nvPr/>
          </p:nvSpPr>
          <p:spPr>
            <a:xfrm>
              <a:off x="6595921" y="1339941"/>
              <a:ext cx="1912748" cy="1147648"/>
            </a:xfrm>
            <a:prstGeom prst="rect">
              <a:avLst/>
            </a:prstGeom>
            <a:solidFill>
              <a:srgbClr val="EB9B78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6"/>
            <p:cNvSpPr txBox="1"/>
            <p:nvPr/>
          </p:nvSpPr>
          <p:spPr>
            <a:xfrm>
              <a:off x="6595921" y="1339941"/>
              <a:ext cx="1912748" cy="1147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UY" sz="15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Genome wide modifications</a:t>
              </a:r>
              <a:endPara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8699944" y="1339941"/>
              <a:ext cx="1912748" cy="1147648"/>
            </a:xfrm>
            <a:prstGeom prst="rect">
              <a:avLst/>
            </a:prstGeom>
            <a:solidFill>
              <a:srgbClr val="EDA28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6"/>
            <p:cNvSpPr txBox="1"/>
            <p:nvPr/>
          </p:nvSpPr>
          <p:spPr>
            <a:xfrm>
              <a:off x="8699944" y="1339941"/>
              <a:ext cx="1912748" cy="1147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UY" sz="15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Base editing</a:t>
              </a:r>
              <a:endPara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3439887" y="2678865"/>
              <a:ext cx="1912748" cy="1147648"/>
            </a:xfrm>
            <a:prstGeom prst="rect">
              <a:avLst/>
            </a:prstGeom>
            <a:solidFill>
              <a:srgbClr val="EFA98D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6"/>
            <p:cNvSpPr txBox="1"/>
            <p:nvPr/>
          </p:nvSpPr>
          <p:spPr>
            <a:xfrm>
              <a:off x="3439887" y="2678865"/>
              <a:ext cx="1912748" cy="1147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UY" sz="15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Gene drive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5543910" y="2678865"/>
              <a:ext cx="1912748" cy="1147648"/>
            </a:xfrm>
            <a:prstGeom prst="rect">
              <a:avLst/>
            </a:prstGeom>
            <a:solidFill>
              <a:srgbClr val="F1B098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6"/>
            <p:cNvSpPr txBox="1"/>
            <p:nvPr/>
          </p:nvSpPr>
          <p:spPr>
            <a:xfrm>
              <a:off x="5543910" y="2678865"/>
              <a:ext cx="1912748" cy="1147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UY" sz="15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etc</a:t>
              </a:r>
              <a:endPara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 txBox="1"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s-UY" sz="5400" dirty="0"/>
              <a:t>Obligatorio</a:t>
            </a:r>
            <a:endParaRPr dirty="0"/>
          </a:p>
        </p:txBody>
      </p:sp>
      <p:sp>
        <p:nvSpPr>
          <p:cNvPr id="308" name="Google Shape;308;p7"/>
          <p:cNvSpPr/>
          <p:nvPr/>
        </p:nvSpPr>
        <p:spPr>
          <a:xfrm rot="5400000">
            <a:off x="2543983" y="3258715"/>
            <a:ext cx="4480560" cy="18288"/>
          </a:xfrm>
          <a:custGeom>
            <a:avLst/>
            <a:gdLst/>
            <a:ahLst/>
            <a:cxnLst/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 txBox="1">
            <a:spLocks noGrp="1"/>
          </p:cNvSpPr>
          <p:nvPr>
            <p:ph type="body" idx="1"/>
          </p:nvPr>
        </p:nvSpPr>
        <p:spPr>
          <a:xfrm>
            <a:off x="5126418" y="704491"/>
            <a:ext cx="6224400" cy="54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s-UY" sz="2200" u="sng" dirty="0"/>
              <a:t>Presentación oral: 15 puntos</a:t>
            </a:r>
            <a:endParaRPr u="sng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s-UY" sz="2200" dirty="0"/>
              <a:t>20 min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s-UY" sz="2200" dirty="0"/>
              <a:t>Foco en las actividades de diseño (por qué se eligió la estrategia, qué programas se usaron, cómo se determinaron las eficiencias, resultados descartados, </a:t>
            </a:r>
            <a:r>
              <a:rPr lang="es-UY" sz="2200" dirty="0" err="1"/>
              <a:t>etc</a:t>
            </a:r>
            <a:r>
              <a:rPr lang="es-UY" sz="2200" dirty="0"/>
              <a:t>)</a:t>
            </a:r>
            <a:endParaRPr sz="2200" dirty="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s-UY" sz="2200" u="sng" dirty="0"/>
              <a:t>Entrega escrita: 30 puntos</a:t>
            </a:r>
            <a:endParaRPr u="sng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s-UY" sz="2200" dirty="0"/>
              <a:t>Información gráfica en documento principal.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s-UY" sz="2200" dirty="0"/>
              <a:t>Secuencias y demás en anexos CON CARACTERÍSTICAS IMPORTANTES MARCADAS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s-UY" sz="2200" dirty="0"/>
              <a:t>Archivos de </a:t>
            </a:r>
            <a:r>
              <a:rPr lang="es-UY" sz="2200" dirty="0" err="1"/>
              <a:t>snapgene</a:t>
            </a:r>
            <a:r>
              <a:rPr lang="es-UY" sz="2200" dirty="0"/>
              <a:t> o similar en caso de haber sido usados </a:t>
            </a:r>
            <a:endParaRPr sz="2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10" descr="Dibujo animado de un personaje animado&#10;&#10;Descripción generada automáticamente con confianza baja"/>
          <p:cNvPicPr preferRelativeResize="0"/>
          <p:nvPr/>
        </p:nvPicPr>
        <p:blipFill rotWithShape="1">
          <a:blip r:embed="rId3">
            <a:alphaModFix/>
          </a:blip>
          <a:srcRect t="21303" r="9090" b="2151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0"/>
          <p:cNvSpPr/>
          <p:nvPr/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6078"/>
                </a:srgbClr>
              </a:gs>
              <a:gs pos="35000">
                <a:srgbClr val="FFFFFF">
                  <a:alpha val="77254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 txBox="1"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s-UY" sz="4800"/>
              <a:t>Preguntas? </a:t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 txBox="1"/>
          <p:nvPr/>
        </p:nvSpPr>
        <p:spPr>
          <a:xfrm>
            <a:off x="9724658" y="6657945"/>
            <a:ext cx="2467342" cy="20005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-UY" sz="700" b="0" i="0" u="sng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es-UY" sz="7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Autor desconocido está bajo licencia </a:t>
            </a:r>
            <a:r>
              <a:rPr lang="es-UY" sz="700" b="0" i="0" u="sng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sz="7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Panorámica</PresentationFormat>
  <Paragraphs>117</Paragraphs>
  <Slides>19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Tema de Office</vt:lpstr>
      <vt:lpstr>Bienvenidos!  Taller de Ingeniería genética </vt:lpstr>
      <vt:lpstr>Docentes</vt:lpstr>
      <vt:lpstr>¿Qué es la ingeniería genética?</vt:lpstr>
      <vt:lpstr>Herramientas de la Ingeniería genética</vt:lpstr>
      <vt:lpstr>Uso de CRISPR en experimentos</vt:lpstr>
      <vt:lpstr>Uso de CRISPR en experimentos</vt:lpstr>
      <vt:lpstr>Uso de CRISPR en experimentos</vt:lpstr>
      <vt:lpstr>Uso de CRISPR en experimentos</vt:lpstr>
      <vt:lpstr>Evaluaciones</vt:lpstr>
      <vt:lpstr>Fechas importantes</vt:lpstr>
      <vt:lpstr>Detalle de las evaluaciones</vt:lpstr>
      <vt:lpstr>Presentación de técnicas basadas en CRISPR</vt:lpstr>
      <vt:lpstr>Presentación de técnicas basadas en CRISPR</vt:lpstr>
      <vt:lpstr>Presentación de técnicas basadas en CRISPR</vt:lpstr>
      <vt:lpstr>Informe </vt:lpstr>
      <vt:lpstr>Obligatorio</vt:lpstr>
      <vt:lpstr>Obligatorio</vt:lpstr>
      <vt:lpstr>Obligatorio</vt:lpstr>
      <vt:lpstr>Preguntas?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 Paula Mulet</dc:creator>
  <cp:lastModifiedBy>Ana Paula Mulet</cp:lastModifiedBy>
  <cp:revision>1</cp:revision>
  <dcterms:created xsi:type="dcterms:W3CDTF">2021-01-07T17:06:30Z</dcterms:created>
  <dcterms:modified xsi:type="dcterms:W3CDTF">2026-07-06T17:10:35Z</dcterms:modified>
</cp:coreProperties>
</file>